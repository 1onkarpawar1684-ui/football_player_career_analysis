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640080"/>
            <a:ext cx="1645920" cy="1645920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508760"/>
            <a:ext cx="914400" cy="914400"/>
          </a:xfrm>
          <a:prstGeom prst="ellipse">
            <a:avLst/>
          </a:prstGeom>
          <a:solidFill>
            <a:srgbClr val="C9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828800"/>
            <a:ext cx="685800" cy="685800"/>
          </a:xfrm>
          <a:prstGeom prst="ellipse">
            <a:avLst/>
          </a:prstGeom>
          <a:solidFill>
            <a:srgbClr val="3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8778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Perform Career Analysis
of a Renowned Football Player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E2EBF7"/>
                </a:solidFill>
              </a:rPr>
              <a:t>EDA Findings &amp; Visual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862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BF7"/>
                </a:solidFill>
              </a:rPr>
              <a:t>Based on international football match, goalscorer and shootout datasets</a:t>
            </a:r>
          </a:p>
          <a:p>
            <a:r>
              <a:rPr sz="1400" b="1">
                <a:solidFill>
                  <a:srgbClr val="FFFFFF"/>
                </a:solidFill>
              </a:rPr>
              <a:t>Prepared by Omkar Pawar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73152" cy="1417320"/>
          </a:xfrm>
          <a:prstGeom prst="rect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2471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07D"/>
                </a:solidFill>
              </a:rPr>
              <a:t>MATCH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4630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32D37"/>
                </a:solidFill>
              </a:rPr>
              <a:t>49,547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07D"/>
                </a:solidFill>
              </a:rPr>
              <a:t>9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960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960120"/>
            <a:ext cx="73152" cy="1417320"/>
          </a:xfrm>
          <a:prstGeom prst="rect">
            <a:avLst/>
          </a:prstGeom>
          <a:solidFill>
            <a:srgbClr val="35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12471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07D"/>
                </a:solidFill>
              </a:rPr>
              <a:t>GOALSCORERS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4630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32D37"/>
                </a:solidFill>
              </a:rPr>
              <a:t>47,914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9385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07D"/>
                </a:solidFill>
              </a:rPr>
              <a:t>8 columns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960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960120"/>
            <a:ext cx="73152" cy="1417320"/>
          </a:xfrm>
          <a:prstGeom prst="rect">
            <a:avLst/>
          </a:prstGeom>
          <a:solidFill>
            <a:srgbClr val="C9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112471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07D"/>
                </a:solidFill>
              </a:rPr>
              <a:t>FORMER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4630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32D37"/>
                </a:solidFill>
              </a:rPr>
              <a:t>683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19385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07D"/>
                </a:solidFill>
              </a:rPr>
              <a:t>5 columns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960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960120"/>
            <a:ext cx="73152" cy="1417320"/>
          </a:xfrm>
          <a:prstGeom prst="rect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8" y="112471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07D"/>
                </a:solidFill>
              </a:rPr>
              <a:t>SHOOTOUTS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14630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32D37"/>
                </a:solidFill>
              </a:rPr>
              <a:t>683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19385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07D"/>
                </a:solidFill>
              </a:rPr>
              <a:t>5 columns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32D37"/>
                </a:solidFill>
              </a:rPr>
              <a:t>What each dataset contributes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4612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Results: dates, teams, scores, tournament, venue and neutral-site information.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Goalscorers: scorer, minute, team, own-goal and penalty indicators.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Shootouts: match, winner and first-shooter information.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Former Names contains the same 683-row shootout structure in the notebook.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697480"/>
            <a:ext cx="48920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9443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32D37"/>
                </a:solidFill>
              </a:rPr>
              <a:t>EDA quality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29000"/>
            <a:ext cx="4251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D37"/>
                </a:solidFill>
              </a:defRPr>
            </a:pPr>
            <a:r>
              <a:t>• Results: no missing values and no duplicate rows.</a:t>
            </a:r>
          </a:p>
          <a:p>
            <a:pPr>
              <a:spcAft>
                <a:spcPts val="900"/>
              </a:spcAft>
              <a:defRPr sz="1300">
                <a:solidFill>
                  <a:srgbClr val="232D37"/>
                </a:solidFill>
              </a:defRPr>
            </a:pPr>
            <a:r>
              <a:t>• Goalscorers: 44 scorer values and 254 minute values are missing; 79 duplicate rows.</a:t>
            </a:r>
          </a:p>
          <a:p>
            <a:pPr>
              <a:spcAft>
                <a:spcPts val="900"/>
              </a:spcAft>
              <a:defRPr sz="1300">
                <a:solidFill>
                  <a:srgbClr val="232D37"/>
                </a:solidFill>
              </a:defRPr>
            </a:pPr>
            <a:r>
              <a:t>• All four date columns were converted successfully to datetime with 0 invalid dates.</a:t>
            </a:r>
          </a:p>
          <a:p>
            <a:pPr>
              <a:spcAft>
                <a:spcPts val="900"/>
              </a:spcAft>
              <a:defRPr sz="1300">
                <a:solidFill>
                  <a:srgbClr val="232D37"/>
                </a:solidFill>
              </a:defRPr>
            </a:pPr>
            <a:r>
              <a:t>• No negative home or away score values were found.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Matches by Tournament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EDA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7909560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7479792" cy="37772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914400"/>
            <a:ext cx="3044952" cy="5230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993392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2EBF7"/>
                </a:solidFill>
              </a:defRPr>
            </a:pPr>
            <a:r>
              <a:t>Friendly matches dominate the dataset by a wide margin, followed by FIFA World Cup qualification and UEFA Euro qualification.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This means the EDA reflects a broad mix of competitive and non-competitive international fixtures.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Goals per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EDA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7909560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7479792" cy="47312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914400"/>
            <a:ext cx="3044952" cy="5230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993392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2EBF7"/>
                </a:solidFill>
              </a:defRPr>
            </a:pPr>
            <a:r>
              <a:t>The distribution is concentrated in low-scoring matches, with most observations clustered around roughly 1–5 total goals.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Very high-scoring matches form a long, thin tail and are comparatively rare.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Home vs Away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EDA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7909560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7479792" cy="56690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914400"/>
            <a:ext cx="3044952" cy="5230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993392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2EBF7"/>
                </a:solidFill>
              </a:defRPr>
            </a:pPr>
            <a:r>
              <a:t>Home teams average 1.757 goals per match versus 1.183 for away teams.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Home scoring is about 49% higher than away scoring in this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Total Goals by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EDA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7909560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7479792" cy="40573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914400"/>
            <a:ext cx="3044952" cy="5230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993392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2EBF7"/>
                </a:solidFill>
              </a:defRPr>
            </a:pPr>
            <a:r>
              <a:t>Total goals rise substantially over the long historical period, with much larger yearly totals in the modern era.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The series is volatile year to year, with pronounced peaks and dips.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Top 10 Goal Scorers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EDA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7909560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7479792" cy="42050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914400"/>
            <a:ext cx="3044952" cy="5230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993392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2EBF7"/>
                </a:solidFill>
              </a:defRPr>
            </a:pPr>
            <a:r>
              <a:t>Cristiano Ronaldo leads the scorer table with 124 goals, ahead of Harry Kane (75) and Lionel Messi (71).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The gap from #1 to #2 is 49 goals, highlighting a strong lead at the 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Shootout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EDA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7909560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43000"/>
            <a:ext cx="7479792" cy="45008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914400"/>
            <a:ext cx="3044952" cy="5230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993392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2EBF7"/>
                </a:solidFill>
              </a:defRPr>
            </a:pPr>
            <a:r>
              <a:t>Egypt has the most recorded shootout wins (16), followed by South Korea and Argentina with 15 each.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The dataset contains 683 shootout records in total.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Key EDA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463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2EBF7"/>
                </a:solidFill>
              </a:rPr>
              <a:t>SUMMARY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005840"/>
            <a:ext cx="475488" cy="475488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996696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D37"/>
                </a:solidFill>
              </a:rPr>
              <a:t>Large historical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98755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07D"/>
                </a:solidFill>
              </a:rPr>
              <a:t>49,547 match results span a very long international-football history.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847088"/>
            <a:ext cx="475488" cy="475488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37944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D37"/>
                </a:solidFill>
              </a:rPr>
              <a:t>Home advantage in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07D"/>
                </a:solidFill>
              </a:rPr>
              <a:t>Average home scoring (1.757) is materially above away scoring (1.183).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688336"/>
            <a:ext cx="475488" cy="475488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8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7919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D37"/>
                </a:solidFill>
              </a:rPr>
              <a:t>Low-score matches dominate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70048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07D"/>
                </a:solidFill>
              </a:rPr>
              <a:t>Most matches fall in a relatively low total-goal range; extreme scores are rare.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529584"/>
            <a:ext cx="475488" cy="475488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02736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204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D37"/>
                </a:solidFill>
              </a:rPr>
              <a:t>Modern era has higher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11296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07D"/>
                </a:solidFill>
              </a:rPr>
              <a:t>Yearly total goals become much larger in the later decades, with strong variability.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370832"/>
            <a:ext cx="475488" cy="475488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43984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616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D37"/>
                </a:solidFill>
              </a:rPr>
              <a:t>Ronaldo leads scorer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52544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07D"/>
                </a:solidFill>
              </a:rPr>
              <a:t>Cristiano Ronaldo records 124 goals in the goalscorer dataset, 49 more than #2 Harry Kane.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212080"/>
            <a:ext cx="475488" cy="475488"/>
          </a:xfrm>
          <a:prstGeom prst="ellipse">
            <a:avLst/>
          </a:prstGeom>
          <a:solidFill>
            <a:srgbClr val="34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85232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02936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D37"/>
                </a:solidFill>
              </a:rPr>
              <a:t>Shootout leaders are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19379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07D"/>
                </a:solidFill>
              </a:rPr>
              <a:t>Egypt leads with 16 wins; South Korea and Argentina are just one behind at 15.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6949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E2EBF7"/>
                </a:solidFill>
              </a:defRPr>
            </a:pPr>
            <a:r>
              <a:t>• The EDA shows a large and historically broad international football dataset.</a:t>
            </a:r>
          </a:p>
          <a:p>
            <a:pPr>
              <a:spcAft>
                <a:spcPts val="900"/>
              </a:spcAft>
              <a:defRPr sz="1700">
                <a:solidFill>
                  <a:srgbClr val="E2EBF7"/>
                </a:solidFill>
              </a:defRPr>
            </a:pPr>
            <a:r>
              <a:t>• Scoring is strongly associated with venue context: home teams score more on average.</a:t>
            </a:r>
          </a:p>
          <a:p>
            <a:pPr>
              <a:spcAft>
                <a:spcPts val="900"/>
              </a:spcAft>
              <a:defRPr sz="1700">
                <a:solidFill>
                  <a:srgbClr val="E2EBF7"/>
                </a:solidFill>
              </a:defRPr>
            </a:pPr>
            <a:r>
              <a:t>• International football scoring volume has expanded considerably in the modern era.</a:t>
            </a:r>
          </a:p>
          <a:p>
            <a:pPr>
              <a:spcAft>
                <a:spcPts val="900"/>
              </a:spcAft>
              <a:defRPr sz="1700">
                <a:solidFill>
                  <a:srgbClr val="E2EBF7"/>
                </a:solidFill>
              </a:defRPr>
            </a:pPr>
            <a:r>
              <a:t>• The goalscorer analysis highlights Cristiano Ronaldo as the leading scorer in the supplied data.</a:t>
            </a:r>
          </a:p>
          <a:p>
            <a:pPr>
              <a:spcAft>
                <a:spcPts val="900"/>
              </a:spcAft>
              <a:defRPr sz="1700">
                <a:solidFill>
                  <a:srgbClr val="E2EBF7"/>
                </a:solidFill>
              </a:defRPr>
            </a:pPr>
            <a:r>
              <a:t>• Shootout results show a small group of teams leading the recorded shootout-win 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08760"/>
            <a:ext cx="30632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874519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EDA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251460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32D37"/>
                </a:solidFill>
              </a:rPr>
              <a:t>Data-driven patterns reveal
scoring trends, home advantage,
and standout international scorers.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D"/>
                </a:solidFill>
              </a:rPr>
              <a:t>EDA Findings • International Football Dataset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